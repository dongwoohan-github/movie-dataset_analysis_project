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731520" y="110489"/>
            <a:ext cx="13167361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731520" y="1920239"/>
            <a:ext cx="13167361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7071359" y="7408545"/>
            <a:ext cx="3413761" cy="4381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1"/>
          <p:cNvSpPr txBox="1"/>
          <p:nvPr/>
        </p:nvSpPr>
        <p:spPr>
          <a:xfrm>
            <a:off x="6325909" y="2096094"/>
            <a:ext cx="7464982" cy="208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7700"/>
              </a:lnSpc>
              <a:defRPr sz="61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영화 산업의 시대별 변화와 트렌드</a:t>
            </a:r>
          </a:p>
        </p:txBody>
      </p:sp>
      <p:sp>
        <p:nvSpPr>
          <p:cNvPr id="24" name="Text 2"/>
          <p:cNvSpPr txBox="1"/>
          <p:nvPr/>
        </p:nvSpPr>
        <p:spPr>
          <a:xfrm>
            <a:off x="6325909" y="4392692"/>
            <a:ext cx="7464982" cy="1151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영화 산업은 시대에 따라 크게 변화해 왔습니다. 상영 영화 수, 수입, 인기 장르 등 다양한 측면에서 다양한 추이를 보입니다. 이를 통해 영화 제작의 미래 방향을 예측해 볼 수 있습니다.</a:t>
            </a:r>
          </a:p>
        </p:txBody>
      </p:sp>
      <p:sp>
        <p:nvSpPr>
          <p:cNvPr id="25" name="Shape 3"/>
          <p:cNvSpPr/>
          <p:nvPr/>
        </p:nvSpPr>
        <p:spPr>
          <a:xfrm>
            <a:off x="6280189" y="5753456"/>
            <a:ext cx="362904" cy="362904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</a:p>
        </p:txBody>
      </p:sp>
      <p:pic>
        <p:nvPicPr>
          <p:cNvPr id="29" name="이미지" descr="이미지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6445041" cy="7522336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ext 1"/>
          <p:cNvSpPr txBox="1"/>
          <p:nvPr/>
        </p:nvSpPr>
        <p:spPr>
          <a:xfrm>
            <a:off x="6325909" y="858678"/>
            <a:ext cx="4920157" cy="81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시대별 상영 영화 추이</a:t>
            </a:r>
          </a:p>
        </p:txBody>
      </p:sp>
      <p:sp>
        <p:nvSpPr>
          <p:cNvPr id="31" name="Shape 2"/>
          <p:cNvSpPr/>
          <p:nvPr/>
        </p:nvSpPr>
        <p:spPr>
          <a:xfrm>
            <a:off x="6605110" y="1907619"/>
            <a:ext cx="30481" cy="5463183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3"/>
          <p:cNvSpPr/>
          <p:nvPr/>
        </p:nvSpPr>
        <p:spPr>
          <a:xfrm>
            <a:off x="6845021" y="2402681"/>
            <a:ext cx="793791" cy="30481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4"/>
          <p:cNvSpPr/>
          <p:nvPr/>
        </p:nvSpPr>
        <p:spPr>
          <a:xfrm>
            <a:off x="6365199" y="2162769"/>
            <a:ext cx="510303" cy="51030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5"/>
          <p:cNvSpPr txBox="1"/>
          <p:nvPr/>
        </p:nvSpPr>
        <p:spPr>
          <a:xfrm>
            <a:off x="6476400" y="2247781"/>
            <a:ext cx="287783" cy="43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5" name="Text 6"/>
          <p:cNvSpPr txBox="1"/>
          <p:nvPr/>
        </p:nvSpPr>
        <p:spPr>
          <a:xfrm>
            <a:off x="7913607" y="2134433"/>
            <a:ext cx="1286686" cy="44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1900 초반</a:t>
            </a:r>
          </a:p>
        </p:txBody>
      </p:sp>
      <p:sp>
        <p:nvSpPr>
          <p:cNvPr id="36" name="Text 7"/>
          <p:cNvSpPr txBox="1"/>
          <p:nvPr/>
        </p:nvSpPr>
        <p:spPr>
          <a:xfrm>
            <a:off x="7913607" y="2624851"/>
            <a:ext cx="5877284" cy="796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1900년대 초반 영화 상영 수가 점진적으로 증가하기 시작했습니다. 멀티플렉스의 등장으로 다양한 영화 상영이 가능해졌습니다.</a:t>
            </a:r>
          </a:p>
        </p:txBody>
      </p:sp>
      <p:sp>
        <p:nvSpPr>
          <p:cNvPr id="37" name="Shape 8"/>
          <p:cNvSpPr/>
          <p:nvPr/>
        </p:nvSpPr>
        <p:spPr>
          <a:xfrm>
            <a:off x="6845021" y="4299346"/>
            <a:ext cx="793791" cy="30481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9"/>
          <p:cNvSpPr/>
          <p:nvPr/>
        </p:nvSpPr>
        <p:spPr>
          <a:xfrm>
            <a:off x="6365199" y="4059435"/>
            <a:ext cx="510303" cy="51030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0"/>
          <p:cNvSpPr txBox="1"/>
          <p:nvPr/>
        </p:nvSpPr>
        <p:spPr>
          <a:xfrm>
            <a:off x="6476460" y="4144447"/>
            <a:ext cx="287782" cy="43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0" name="Text 11"/>
          <p:cNvSpPr txBox="1"/>
          <p:nvPr/>
        </p:nvSpPr>
        <p:spPr>
          <a:xfrm>
            <a:off x="7913607" y="4031098"/>
            <a:ext cx="1528367" cy="44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1990 중후반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7913607" y="4521517"/>
            <a:ext cx="5877284" cy="796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영화 상영 수가 점진적으로 증가하기 시작했습니다. 멀티플렉스의 등장으로 다양한 영화 상영이 가능해졌습니다.</a:t>
            </a:r>
          </a:p>
        </p:txBody>
      </p:sp>
      <p:sp>
        <p:nvSpPr>
          <p:cNvPr id="42" name="Shape 13"/>
          <p:cNvSpPr/>
          <p:nvPr/>
        </p:nvSpPr>
        <p:spPr>
          <a:xfrm>
            <a:off x="6845021" y="6196012"/>
            <a:ext cx="793791" cy="30481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hape 14"/>
          <p:cNvSpPr/>
          <p:nvPr/>
        </p:nvSpPr>
        <p:spPr>
          <a:xfrm>
            <a:off x="6365199" y="5956101"/>
            <a:ext cx="510303" cy="51030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5"/>
          <p:cNvSpPr txBox="1"/>
          <p:nvPr/>
        </p:nvSpPr>
        <p:spPr>
          <a:xfrm>
            <a:off x="6476460" y="6041111"/>
            <a:ext cx="287782" cy="43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5" name="Text 16"/>
          <p:cNvSpPr txBox="1"/>
          <p:nvPr/>
        </p:nvSpPr>
        <p:spPr>
          <a:xfrm>
            <a:off x="7913607" y="5927764"/>
            <a:ext cx="1770048" cy="44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2000년대 이후</a:t>
            </a:r>
          </a:p>
        </p:txBody>
      </p:sp>
      <p:sp>
        <p:nvSpPr>
          <p:cNvPr id="46" name="Text 17"/>
          <p:cNvSpPr txBox="1"/>
          <p:nvPr/>
        </p:nvSpPr>
        <p:spPr>
          <a:xfrm>
            <a:off x="7913607" y="6418183"/>
            <a:ext cx="5877284" cy="1507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스트리밍 서비스의 등장으로 영화 상영 방식이 다양화되며 상영 수가 지속적으로 증가했습니다.</a:t>
            </a:r>
          </a:p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다만, OTT의 등장으로 2010년대 이후 급격히 줄어드는 것으로 파악됩니다.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"/>
          <p:cNvSpPr txBox="1"/>
          <p:nvPr/>
        </p:nvSpPr>
        <p:spPr>
          <a:xfrm>
            <a:off x="682228" y="500419"/>
            <a:ext cx="7779544" cy="1230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4400"/>
              </a:lnSpc>
              <a:defRPr sz="35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1990년대 ~ 현재까지 장르별 영화 상영 건수 변화</a:t>
            </a:r>
          </a:p>
        </p:txBody>
      </p:sp>
      <p:pic>
        <p:nvPicPr>
          <p:cNvPr id="51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6507" y="1909763"/>
            <a:ext cx="909281" cy="145482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ext 2"/>
          <p:cNvSpPr txBox="1"/>
          <p:nvPr/>
        </p:nvSpPr>
        <p:spPr>
          <a:xfrm>
            <a:off x="1864281" y="2091570"/>
            <a:ext cx="1204678" cy="379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1990년대 초</a:t>
            </a:r>
          </a:p>
        </p:txBody>
      </p:sp>
      <p:sp>
        <p:nvSpPr>
          <p:cNvPr id="53" name="Text 3"/>
          <p:cNvSpPr txBox="1"/>
          <p:nvPr/>
        </p:nvSpPr>
        <p:spPr>
          <a:xfrm>
            <a:off x="1864280" y="2484714"/>
            <a:ext cx="4190458" cy="368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드라마의 장르가 점진적으로 증가하는 것을 알 수 있습니다 </a:t>
            </a:r>
          </a:p>
        </p:txBody>
      </p:sp>
      <p:pic>
        <p:nvPicPr>
          <p:cNvPr id="54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6507" y="3364586"/>
            <a:ext cx="909281" cy="1454826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Text 4"/>
          <p:cNvSpPr txBox="1"/>
          <p:nvPr/>
        </p:nvSpPr>
        <p:spPr>
          <a:xfrm>
            <a:off x="1864281" y="3546395"/>
            <a:ext cx="1204678" cy="379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2000년대 초</a:t>
            </a:r>
          </a:p>
        </p:txBody>
      </p:sp>
      <p:sp>
        <p:nvSpPr>
          <p:cNvPr id="56" name="Text 5"/>
          <p:cNvSpPr txBox="1"/>
          <p:nvPr/>
        </p:nvSpPr>
        <p:spPr>
          <a:xfrm>
            <a:off x="1864280" y="3939540"/>
            <a:ext cx="5096783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대부분의 장르가 2000년을 기점으로 최고점을 찍는 것을 알 수 있습니다</a:t>
            </a:r>
          </a:p>
        </p:txBody>
      </p:sp>
      <p:pic>
        <p:nvPicPr>
          <p:cNvPr id="57" name="Image 4" descr="Imag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6507" y="4819412"/>
            <a:ext cx="909281" cy="1454825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ext 6"/>
          <p:cNvSpPr txBox="1"/>
          <p:nvPr/>
        </p:nvSpPr>
        <p:spPr>
          <a:xfrm>
            <a:off x="1864281" y="5001219"/>
            <a:ext cx="1638169" cy="379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200"/>
              </a:lnSpc>
              <a:defRPr sz="17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2010년 부터 현재</a:t>
            </a:r>
          </a:p>
        </p:txBody>
      </p:sp>
      <p:sp>
        <p:nvSpPr>
          <p:cNvPr id="59" name="Text 7"/>
          <p:cNvSpPr txBox="1"/>
          <p:nvPr/>
        </p:nvSpPr>
        <p:spPr>
          <a:xfrm>
            <a:off x="1864280" y="5394364"/>
            <a:ext cx="5652366" cy="914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2010년대 하락세를 보이고 있으며 이는 스트리밍의 다양화와 OTT 의 등장으로 </a:t>
            </a:r>
          </a:p>
          <a:p>
            <a:pPr>
              <a:lnSpc>
                <a:spcPts val="2200"/>
              </a:lnSpc>
              <a:defRPr sz="14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추측됩니다</a:t>
            </a:r>
          </a:p>
        </p:txBody>
      </p:sp>
      <p:pic>
        <p:nvPicPr>
          <p:cNvPr id="60" name="이미지" descr="이미지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832410" y="1423942"/>
            <a:ext cx="6774856" cy="63172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Shape 0"/>
          <p:cNvSpPr/>
          <p:nvPr/>
        </p:nvSpPr>
        <p:spPr>
          <a:xfrm>
            <a:off x="349035" y="-40362"/>
            <a:ext cx="14630401" cy="8229601"/>
          </a:xfrm>
          <a:prstGeom prst="rect">
            <a:avLst/>
          </a:prstGeom>
          <a:solidFill>
            <a:srgbClr val="FFFD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Text 1"/>
          <p:cNvSpPr txBox="1"/>
          <p:nvPr/>
        </p:nvSpPr>
        <p:spPr>
          <a:xfrm>
            <a:off x="6325909" y="1040130"/>
            <a:ext cx="4920157" cy="81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영화 수입 시대별 추이</a:t>
            </a:r>
          </a:p>
        </p:txBody>
      </p:sp>
      <p:pic>
        <p:nvPicPr>
          <p:cNvPr id="66" name="이미지" descr="이미지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92048" y="2073001"/>
            <a:ext cx="6075270" cy="4753593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영화 산업은 지속적으로 우상향을 그리고 있으며,…"/>
          <p:cNvSpPr txBox="1"/>
          <p:nvPr/>
        </p:nvSpPr>
        <p:spPr>
          <a:xfrm>
            <a:off x="6250019" y="7041584"/>
            <a:ext cx="9054621" cy="13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영화 산업은 지속적으로 우상향을 그리고 있으며, </a:t>
            </a:r>
          </a:p>
          <a:p>
            <a:pPr/>
            <a:r>
              <a:t>1900 년대 초 미국 대공항과 더불어 세계대전의 발발로 영화 제작 및 상영이 적어짐에 따라 수입도 함께</a:t>
            </a:r>
          </a:p>
          <a:p>
            <a:pPr/>
            <a:r>
              <a:t>적어진 것으로 추측이 되고, 이후 경제적 여유를 가지게 됨에 따라 취미 생활을 점차 즐기는 것으</a:t>
            </a:r>
          </a:p>
          <a:p>
            <a:pPr/>
            <a:r>
              <a:t>로 추측됩니다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hape 0"/>
          <p:cNvSpPr/>
          <p:nvPr/>
        </p:nvSpPr>
        <p:spPr>
          <a:xfrm>
            <a:off x="6785" y="0"/>
            <a:ext cx="14630401" cy="8229601"/>
          </a:xfrm>
          <a:prstGeom prst="rect">
            <a:avLst/>
          </a:prstGeom>
          <a:solidFill>
            <a:srgbClr val="FFFDFA"/>
          </a:solidFill>
          <a:ln w="12700">
            <a:miter lim="400000"/>
          </a:ln>
        </p:spPr>
        <p:txBody>
          <a:bodyPr lIns="25400" tIns="25400" rIns="25400" bIns="25400"/>
          <a:lstStyle/>
          <a:p>
            <a:pPr/>
          </a:p>
        </p:txBody>
      </p:sp>
      <p:sp>
        <p:nvSpPr>
          <p:cNvPr id="71" name="Text 1"/>
          <p:cNvSpPr txBox="1"/>
          <p:nvPr/>
        </p:nvSpPr>
        <p:spPr>
          <a:xfrm>
            <a:off x="509865" y="375118"/>
            <a:ext cx="4920157" cy="81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시대별 인기 영화 장르</a:t>
            </a:r>
          </a:p>
        </p:txBody>
      </p:sp>
      <p:pic>
        <p:nvPicPr>
          <p:cNvPr id="72" name="이미지" descr="이미지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8619" y="1308099"/>
            <a:ext cx="13174720" cy="5613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"/>
          <p:cNvSpPr txBox="1"/>
          <p:nvPr/>
        </p:nvSpPr>
        <p:spPr>
          <a:xfrm>
            <a:off x="8967509" y="1252615"/>
            <a:ext cx="4920157" cy="81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각 장르별 매출의 변화</a:t>
            </a:r>
          </a:p>
        </p:txBody>
      </p:sp>
      <p:sp>
        <p:nvSpPr>
          <p:cNvPr id="77" name="Shape 2"/>
          <p:cNvSpPr/>
          <p:nvPr/>
        </p:nvSpPr>
        <p:spPr>
          <a:xfrm>
            <a:off x="7775331" y="2190631"/>
            <a:ext cx="3309264" cy="1875593"/>
          </a:xfrm>
          <a:prstGeom prst="roundRect">
            <a:avLst>
              <a:gd name="adj" fmla="val 5080"/>
            </a:avLst>
          </a:prstGeom>
          <a:solidFill>
            <a:srgbClr val="F7EDD4"/>
          </a:solidFill>
          <a:ln w="7620">
            <a:solidFill>
              <a:srgbClr val="DDD3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3"/>
          <p:cNvSpPr txBox="1"/>
          <p:nvPr/>
        </p:nvSpPr>
        <p:spPr>
          <a:xfrm>
            <a:off x="8467245" y="2228929"/>
            <a:ext cx="1925436" cy="44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19070년대 이후</a:t>
            </a:r>
          </a:p>
        </p:txBody>
      </p:sp>
      <p:sp>
        <p:nvSpPr>
          <p:cNvPr id="79" name="Text 4"/>
          <p:cNvSpPr txBox="1"/>
          <p:nvPr/>
        </p:nvSpPr>
        <p:spPr>
          <a:xfrm>
            <a:off x="7983849" y="2651958"/>
            <a:ext cx="3104556" cy="1507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대부분의 장르에서 매출이 급격히 상승하기 시작하는 시기 특히, 액션,애니메이션 SF 장르에서 급격한 매출 성장</a:t>
            </a:r>
          </a:p>
        </p:txBody>
      </p:sp>
      <p:sp>
        <p:nvSpPr>
          <p:cNvPr id="80" name="Shape 5"/>
          <p:cNvSpPr/>
          <p:nvPr/>
        </p:nvSpPr>
        <p:spPr>
          <a:xfrm>
            <a:off x="11238666" y="2190631"/>
            <a:ext cx="3144164" cy="2142293"/>
          </a:xfrm>
          <a:prstGeom prst="roundRect">
            <a:avLst>
              <a:gd name="adj" fmla="val 4447"/>
            </a:avLst>
          </a:prstGeom>
          <a:solidFill>
            <a:srgbClr val="F7EDD4"/>
          </a:solidFill>
          <a:ln w="7620">
            <a:solidFill>
              <a:srgbClr val="DDD3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6"/>
          <p:cNvSpPr txBox="1"/>
          <p:nvPr/>
        </p:nvSpPr>
        <p:spPr>
          <a:xfrm>
            <a:off x="12452212" y="2086738"/>
            <a:ext cx="1209059" cy="44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2000년대</a:t>
            </a:r>
          </a:p>
        </p:txBody>
      </p:sp>
      <p:sp>
        <p:nvSpPr>
          <p:cNvPr id="82" name="Text 7"/>
          <p:cNvSpPr txBox="1"/>
          <p:nvPr/>
        </p:nvSpPr>
        <p:spPr>
          <a:xfrm>
            <a:off x="11360070" y="2552561"/>
            <a:ext cx="3104556" cy="1863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많은 장르에서 매출이 최고조에 달하고, 이후 감소하는 경향이 나타남</a:t>
            </a:r>
          </a:p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특히 액션과 애니메이션 장르가 다른 장르에 비해 상대적으로 높은 매출을 기록했습니다</a:t>
            </a:r>
          </a:p>
        </p:txBody>
      </p:sp>
      <p:sp>
        <p:nvSpPr>
          <p:cNvPr id="83" name="Shape 8"/>
          <p:cNvSpPr/>
          <p:nvPr/>
        </p:nvSpPr>
        <p:spPr>
          <a:xfrm>
            <a:off x="7775331" y="4744721"/>
            <a:ext cx="6794422" cy="3062090"/>
          </a:xfrm>
          <a:prstGeom prst="roundRect">
            <a:avLst>
              <a:gd name="adj" fmla="val 3111"/>
            </a:avLst>
          </a:prstGeom>
          <a:solidFill>
            <a:srgbClr val="F7EDD4"/>
          </a:solidFill>
          <a:ln w="7620">
            <a:solidFill>
              <a:srgbClr val="DDD3B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9"/>
          <p:cNvSpPr txBox="1"/>
          <p:nvPr/>
        </p:nvSpPr>
        <p:spPr>
          <a:xfrm>
            <a:off x="8592165" y="4900772"/>
            <a:ext cx="2892024" cy="449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</a:lstStyle>
          <a:p>
            <a:pPr/>
            <a:r>
              <a:t>2010년대 말 그리고 결론</a:t>
            </a:r>
          </a:p>
        </p:txBody>
      </p:sp>
      <p:sp>
        <p:nvSpPr>
          <p:cNvPr id="85" name="Text 10"/>
          <p:cNvSpPr txBox="1"/>
          <p:nvPr/>
        </p:nvSpPr>
        <p:spPr>
          <a:xfrm>
            <a:off x="7841797" y="5314608"/>
            <a:ext cx="6740076" cy="2914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전반적으로 모든 장르에서 매출이 감소하는 추세</a:t>
            </a:r>
          </a:p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이에 따른 결론: 1970년대 이후 영화산업이 크게 성장하는 시기 특히</a:t>
            </a:r>
          </a:p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Action, Animation, SF장르에서 두드러진 성장을 보임 ,</a:t>
            </a:r>
          </a:p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2000년대 이후 대부분의 장르에서 매출이 최고치를 기록했지만 </a:t>
            </a:r>
          </a:p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2010년대 이후로는 감소세를 보이는 경우가 많음</a:t>
            </a:r>
          </a:p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해당 그래프를 통해 매출의 변화를 비교하거나 특정 장르의 성장 및 감소 시기를</a:t>
            </a:r>
          </a:p>
          <a:p>
            <a:pPr>
              <a:lnSpc>
                <a:spcPts val="2800"/>
              </a:lnSpc>
              <a:defRPr sz="17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파악할 수 있습니다 </a:t>
            </a:r>
          </a:p>
        </p:txBody>
      </p:sp>
      <p:pic>
        <p:nvPicPr>
          <p:cNvPr id="86" name="이미지" descr="이미지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89811" y="230440"/>
            <a:ext cx="7714881" cy="73544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